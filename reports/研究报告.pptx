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A股策略研究结果（真实数据复刻 EP010）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1,545 只 / 2014-2022 搜索 · 2023-2024 验证 · 2025-01~2026-09 封存评估</a:t>
            </a:r>
          </a:p>
          <a:p>
            <a:r>
              <a:t>2026-10-25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严格通过八层：0 个 —— 与原项目 EP010 一致</a:t>
            </a:r>
          </a:p>
          <a:p>
            <a:pPr>
              <a:defRPr sz="1800"/>
            </a:pPr>
            <a:r>
              <a:t>AI 三席入围（搜索期与验证期过 L1–L6），L7 去重后进入名单，未过 L8（DSR）</a:t>
            </a:r>
          </a:p>
          <a:p>
            <a:pPr>
              <a:defRPr sz="1800"/>
            </a:pPr>
            <a:r>
              <a:t>封存期：AI 三席全部跑赢池等权（+2.70 / +3.72 / +3.38 pp）</a:t>
            </a:r>
          </a:p>
          <a:p>
            <a:pPr>
              <a:defRPr sz="1800"/>
            </a:pPr>
            <a:r>
              <a:t>封存期：随机三席全部跑输（−13.73 / −8.56 / −1.93 pp）</a:t>
            </a:r>
          </a:p>
          <a:p>
            <a:pPr>
              <a:defRPr sz="1800"/>
            </a:pPr>
            <a:r>
              <a:t>AI 组合 60/40：年化 10.33%，最大回撤 −12.85%，对 510300 买入持有 +8.13pp</a:t>
            </a:r>
          </a:p>
          <a:p>
            <a:pPr>
              <a:defRPr sz="1800"/>
            </a:pPr>
            <a:r>
              <a:t>不能表述为“已证明有效”：L8 未通过，且强度低于原项目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研究定义与数据段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搜索期 2014-01-01 ~ 2022-12-31：假设、配置与迭代</a:t>
            </a:r>
          </a:p>
          <a:p>
            <a:pPr>
              <a:defRPr sz="1600"/>
            </a:pPr>
            <a:r>
              <a:t>验证期 2023-01-01 ~ 2024-12-31：筛选与入围评分，参与选择</a:t>
            </a:r>
          </a:p>
          <a:p>
            <a:pPr>
              <a:defRPr sz="1600"/>
            </a:pPr>
            <a:r>
              <a:t>封存期 2025-01-02 ~ 2026-10-23：名单冻结后一次性评估，436 个交易日（ETF 数据超出股票行情截止日）</a:t>
            </a:r>
          </a:p>
          <a:p>
            <a:pPr>
              <a:defRPr sz="1600"/>
            </a:pPr>
            <a:r>
              <a:t>股票池：沪深300 ∪ 中证500 月末历史成分并集 = 1,545 只（缺中证1000）</a:t>
            </a:r>
          </a:p>
          <a:p>
            <a:pPr>
              <a:defRPr sz="1600"/>
            </a:pPr>
            <a:r>
              <a:t>成交假设：T 日收盘信号、T+1 开盘执行，含佣金/印花税/滑点，按 ST、停牌、涨跌停过滤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数据来源与缺口（这决定了强度差）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371600"/>
          <a:ext cx="11430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原项目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本研究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说明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daily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7,811,595 行 / 3,501 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3,763,554 / 1,545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48%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daily_basic（换手/PE/PB/PS）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7,811,602 / 3,501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3,763,554 / 1,545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供应商真值 100% 非空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adj_factor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8,111,434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3,763,554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由后复权收盘÷不复权收盘派生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stk_limit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8,090,134（真实涨跌停价）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3,763,554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派生：前收 ±10%，未细分 20%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namechange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5,668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仅由 isST 区间反推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suspend_d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292,126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128,102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由 tradestatus=0 派生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index_members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229,400 / 3 个指数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106,399 / 2 个指数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缺中证1000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fina_indicator（财务）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170,619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整表缺失 → 无法用 roe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forecast / express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66,820 / 16,185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 /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整表缺失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关键纠偏：策略形态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第 1~2 轮 agent 全部写成 rule 型（买卖规则、趋势追踪）→ A 路 L2 通过率 0% / 6%</a:t>
            </a:r>
          </a:p>
          <a:p>
            <a:pPr>
              <a:defRPr sz="1700"/>
            </a:pPr>
            <a:r>
              <a:t>原项目 A 路 92%、B 路 98% 都是 score 型（横截面打分、周度换手、目标 30 只、行业内排名）</a:t>
            </a:r>
          </a:p>
          <a:p>
            <a:pPr>
              <a:defRPr sz="1700"/>
            </a:pPr>
            <a:r>
              <a:t>根因：因子清单里一条基于 30 只试点数据的错误结论（“打分型等于全池等权”）</a:t>
            </a:r>
          </a:p>
          <a:p>
            <a:pPr>
              <a:defRPr sz="1700"/>
            </a:pPr>
            <a:r>
              <a:t>第 3 轮起改为 score 型：A 路 L2 58% → 76% → 78% → 97%</a:t>
            </a:r>
          </a:p>
          <a:p>
            <a:pPr>
              <a:defRPr sz="1700"/>
            </a:pPr>
            <a:r>
              <a:t>score 型合计：A 80.5% / B 84.2%；原项目 A 72.2% / B 80.6%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最终漏斗（含随机对照）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371600"/>
          <a:ext cx="114300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  <a:gridCol w="1270000"/>
                <a:gridCol w="1270000"/>
                <a:gridCol w="1270000"/>
                <a:gridCol w="1270000"/>
                <a:gridCol w="1270000"/>
              </a:tblGrid>
              <a:tr h="320039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轨道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L8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MONKEY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EXAMPLES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7553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分轮统计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371600"/>
          <a:ext cx="114300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750"/>
                <a:gridCol w="1428750"/>
                <a:gridCol w="1428750"/>
                <a:gridCol w="1428750"/>
                <a:gridCol w="1428750"/>
                <a:gridCol w="1428750"/>
                <a:gridCol w="1428750"/>
                <a:gridCol w="142875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份数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年化中位%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超额中位%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L2 通过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L2 率%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L3 通过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-17.9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-25.4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-3.9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-11.4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29.7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31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51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72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116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92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76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191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87.6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162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vs 随机：搜索期 L2 通过率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371600"/>
          <a:ext cx="114300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2003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对象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L2 通过率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原项目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 路（全部 6 轮）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原 72.2%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 路（全部 6 轮）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原 80.6%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 路（仅 score 型）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原 72.2%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 路（仅 score 型）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原 80.6%</a:t>
                      </a:r>
                    </a:p>
                  </a:txBody>
                  <a:tcPr/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随机组（20 组农场）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原 9.3%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封存期：逐对象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371600"/>
          <a:ext cx="114300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8"/>
              </a:tblGrid>
              <a:tr h="320039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配置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年化%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基准%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超额pp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最大回撤%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a_r6_s3_03_dose030_u250_t120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14.23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11.53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-16.11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a_r6_s3_06_dose045_u250_t120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11.53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-15.28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b_r5_s2_30_ulcer_extra_1to2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14.91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11.53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-16.29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monkey_43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m43_046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-2.19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11.53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-13.73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-1.24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-20.37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monkey_43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m43_050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11.53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-8.56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-20.61</a:t>
                      </a:r>
                    </a:p>
                  </a:txBody>
                  <a:tcPr/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monkey_43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m43_084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11.53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-1.93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-0.17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-19.3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封存期：组合（60% 底仓 + 40% 三席等权）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371600"/>
          <a:ext cx="114300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区间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组合年化%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组合最大回撤%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对510300超额pp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回撤&lt;25%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20250102~20261023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-12.85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True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monkey_43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20250102~20261023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-14.52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True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510300 买入持有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20250102~20260930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-13.26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与原项目的差异（不掩盖）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搜索期 IR：原项目 1.15~1.26，本研究 0.25~0.35</a:t>
            </a:r>
          </a:p>
          <a:p>
            <a:pPr>
              <a:defRPr sz="1700"/>
            </a:pPr>
            <a:r>
              <a:t>封存期超额：原项目 +6.0~+10.1pp，本研究 +2.7~+3.7pp</a:t>
            </a:r>
          </a:p>
          <a:p>
            <a:pPr>
              <a:defRPr sz="1700"/>
            </a:pPr>
            <a:r>
              <a:t>原因定位到数据：池 1,545 只（原 3,501 只，仅 44%）、缺中证1000 小盘股</a:t>
            </a:r>
          </a:p>
          <a:p>
            <a:pPr>
              <a:defRPr sz="1700"/>
            </a:pPr>
            <a:r>
              <a:t>缺 ROE 等财务因子：原项目 067/068 带 roe +0.25，本研究财务表整段为空</a:t>
            </a:r>
          </a:p>
          <a:p>
            <a:pPr>
              <a:defRPr sz="1700"/>
            </a:pPr>
            <a:r>
              <a:t>形态对齐后 L2 通过率基本一致 → 差距来自数据，不是方法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研究限制（必须随结论引用）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/>
            </a:pPr>
            <a:r>
              <a:t>L8 未通过：三席是“入围”，不是“八层达标”</a:t>
            </a:r>
          </a:p>
          <a:p>
            <a:pPr>
              <a:defRPr sz="1500"/>
            </a:pPr>
            <a:r>
              <a:t>第 1~2 轮形态错误（200 份）保留在台账与统计中，未删除</a:t>
            </a:r>
          </a:p>
          <a:p>
            <a:pPr>
              <a:defRPr sz="1500"/>
            </a:pPr>
            <a:r>
              <a:t>农场死锁重启导致同一配置重复回测约 5 次；统计按唯一配置计，DSR 的 N 不用行数</a:t>
            </a:r>
          </a:p>
          <a:p>
            <a:pPr>
              <a:defRPr sz="1500"/>
            </a:pPr>
            <a:r>
              <a:t>173 行 MemoryError 属资源错误，不计入筛选失败</a:t>
            </a:r>
          </a:p>
          <a:p>
            <a:pPr>
              <a:defRPr sz="1500"/>
            </a:pPr>
            <a:r>
              <a:t>财务/预告/龙虎榜/两融/北向整段缺失；行业为证监会口径；stk_limit 为派生值</a:t>
            </a:r>
          </a:p>
          <a:p>
            <a:pPr>
              <a:defRPr sz="1500"/>
            </a:pPr>
            <a:r>
              <a:t>公开案例复刻，不构成盲测；验证期参与筛选；缺强风格基准与完整容量模型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